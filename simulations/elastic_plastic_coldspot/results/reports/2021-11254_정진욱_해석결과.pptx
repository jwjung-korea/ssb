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872972"/>
            <a:ext cx="7772400" cy="1470025"/>
          </a:xfrm>
        </p:spPr>
        <p:txBody>
          <a:bodyPr/>
          <a:lstStyle/>
          <a:p>
            <a:pPr>
              <a:defRPr>
                <a:latin typeface="Malgun Gothic"/>
              </a:defRPr>
            </a:pPr>
            <a:r>
              <a:rPr dirty="0" err="1"/>
              <a:t>리튬</a:t>
            </a:r>
            <a:r>
              <a:rPr dirty="0"/>
              <a:t> </a:t>
            </a:r>
            <a:r>
              <a:rPr dirty="0" err="1"/>
              <a:t>전착</a:t>
            </a:r>
            <a:r>
              <a:rPr dirty="0"/>
              <a:t>(Electrodeposition)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7501" y="3777448"/>
            <a:ext cx="8236998" cy="1752600"/>
          </a:xfrm>
        </p:spPr>
        <p:txBody>
          <a:bodyPr/>
          <a:lstStyle/>
          <a:p>
            <a:pPr>
              <a:defRPr>
                <a:latin typeface="Malgun Gothic"/>
              </a:defRPr>
            </a:pPr>
            <a:r>
              <a:rPr lang="en-US" dirty="0">
                <a:solidFill>
                  <a:schemeClr val="tx1"/>
                </a:solidFill>
              </a:rPr>
              <a:t>Stack Pressure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변화</a:t>
            </a:r>
            <a:r>
              <a:rPr dirty="0">
                <a:solidFill>
                  <a:schemeClr val="tx1"/>
                </a:solidFill>
              </a:rPr>
              <a:t>(1, 3, 5, 10 MPa)에 </a:t>
            </a:r>
            <a:r>
              <a:rPr dirty="0" err="1">
                <a:solidFill>
                  <a:schemeClr val="tx1"/>
                </a:solidFill>
              </a:rPr>
              <a:t>따른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응력</a:t>
            </a:r>
            <a:r>
              <a:rPr dirty="0">
                <a:solidFill>
                  <a:schemeClr val="tx1"/>
                </a:solidFill>
              </a:rPr>
              <a:t> 및 </a:t>
            </a:r>
            <a:r>
              <a:rPr dirty="0" err="1">
                <a:solidFill>
                  <a:schemeClr val="tx1"/>
                </a:solidFill>
              </a:rPr>
              <a:t>소성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변형률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분석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523174" cy="1143000"/>
          </a:xfrm>
        </p:spPr>
        <p:txBody>
          <a:bodyPr>
            <a:normAutofit/>
          </a:bodyPr>
          <a:lstStyle/>
          <a:p>
            <a:pPr>
              <a:defRPr>
                <a:latin typeface="Malgun Gothic"/>
              </a:defRPr>
            </a:pPr>
            <a:r>
              <a:rPr lang="ko-KR" altLang="en-US"/>
              <a:t>피드백 반영 사항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90004" y="1518651"/>
            <a:ext cx="1177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 sz="1600" b="1">
                <a:latin typeface="Malgun Gothic"/>
              </a:defRPr>
            </a:pPr>
            <a:r>
              <a:rPr lang="en-US" altLang="ko-KR" sz="2000" dirty="0"/>
              <a:t>Mesh quadratic </a:t>
            </a:r>
            <a:r>
              <a:rPr lang="ko-KR" altLang="en-US" sz="2000" dirty="0"/>
              <a:t>설정 및 </a:t>
            </a:r>
            <a:r>
              <a:rPr lang="en-US" altLang="ko-KR" sz="2000" dirty="0"/>
              <a:t>gradient </a:t>
            </a:r>
            <a:r>
              <a:rPr lang="ko-KR" altLang="en-US" sz="2000" dirty="0"/>
              <a:t>부여</a:t>
            </a:r>
            <a:r>
              <a:rPr lang="en-US" altLang="ko-KR" sz="2000" dirty="0"/>
              <a:t>(Max/min=5)</a:t>
            </a:r>
          </a:p>
          <a:p>
            <a:pPr marL="342900" indent="-342900">
              <a:buAutoNum type="arabicPeriod"/>
              <a:defRPr sz="1600" b="1">
                <a:latin typeface="Malgun Gothic"/>
              </a:defRPr>
            </a:pPr>
            <a:endParaRPr lang="en-US" altLang="ko-KR" sz="2000" dirty="0"/>
          </a:p>
          <a:p>
            <a:pPr marL="342900" indent="-342900">
              <a:buAutoNum type="arabicPeriod"/>
              <a:defRPr sz="1600" b="1">
                <a:latin typeface="Malgun Gothic"/>
              </a:defRPr>
            </a:pPr>
            <a:r>
              <a:rPr lang="ko-KR" altLang="en-US" sz="2000" dirty="0"/>
              <a:t>두 파트로 분리 후 </a:t>
            </a:r>
            <a:r>
              <a:rPr lang="en-US" altLang="ko-KR" sz="2000" dirty="0"/>
              <a:t>hard contact </a:t>
            </a:r>
            <a:r>
              <a:rPr lang="ko-KR" altLang="en-US" sz="2000" dirty="0"/>
              <a:t>부여</a:t>
            </a:r>
            <a:r>
              <a:rPr lang="en-US" altLang="ko-KR" sz="2000" dirty="0"/>
              <a:t>(Friction coefficient: 0.1)</a:t>
            </a:r>
          </a:p>
          <a:p>
            <a:pPr marL="342900" indent="-342900">
              <a:buAutoNum type="arabicPeriod"/>
              <a:defRPr sz="1600" b="1">
                <a:latin typeface="Malgun Gothic"/>
              </a:defRPr>
            </a:pPr>
            <a:endParaRPr lang="en-US" altLang="ko-KR" sz="2000" dirty="0"/>
          </a:p>
          <a:p>
            <a:pPr marL="342900" indent="-342900">
              <a:buAutoNum type="arabicPeriod"/>
              <a:defRPr sz="1600" b="1">
                <a:latin typeface="Malgun Gothic"/>
              </a:defRPr>
            </a:pPr>
            <a:r>
              <a:rPr lang="en-US" sz="2000" dirty="0"/>
              <a:t>Stack pressure 1MPa 3MPa 5MPa 10MPa</a:t>
            </a:r>
            <a:r>
              <a:rPr lang="ko-KR" altLang="en-US" sz="2000" dirty="0"/>
              <a:t>로 나누어 증착</a:t>
            </a:r>
            <a:r>
              <a:rPr lang="en-US" altLang="ko-KR" sz="2000" dirty="0"/>
              <a:t>/</a:t>
            </a:r>
            <a:r>
              <a:rPr lang="ko-KR" altLang="en-US" sz="2000" dirty="0"/>
              <a:t>용해 총 </a:t>
            </a:r>
            <a:r>
              <a:rPr lang="en-US" altLang="ko-KR" sz="2000" dirty="0"/>
              <a:t>3 </a:t>
            </a:r>
            <a:r>
              <a:rPr lang="ko-KR" altLang="en-US" sz="2000" dirty="0"/>
              <a:t>사이클 시뮬레이션 후</a:t>
            </a:r>
            <a:r>
              <a:rPr lang="en-US" altLang="ko-KR" sz="2000" dirty="0"/>
              <a:t> </a:t>
            </a:r>
            <a:r>
              <a:rPr lang="ko-KR" altLang="en-US" sz="2000" dirty="0"/>
              <a:t>분석</a:t>
            </a:r>
            <a:endParaRPr lang="en-US" altLang="ko-KR" sz="2000" dirty="0"/>
          </a:p>
          <a:p>
            <a:pPr>
              <a:defRPr sz="1600" b="1">
                <a:latin typeface="Malgun Gothic"/>
              </a:defRPr>
            </a:pP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C0A83F-EE06-48DF-A813-8B002DC8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4" y="4028856"/>
            <a:ext cx="5805996" cy="16533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F52E45-774B-4B0C-B8B2-DC986BC32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064" y="4028856"/>
            <a:ext cx="5805996" cy="1522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DF1D6A-831B-4AD0-AE1E-03BD4D159B5C}"/>
              </a:ext>
            </a:extLst>
          </p:cNvPr>
          <p:cNvSpPr txBox="1"/>
          <p:nvPr/>
        </p:nvSpPr>
        <p:spPr>
          <a:xfrm>
            <a:off x="2224627" y="5843272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리튬 </a:t>
            </a:r>
            <a:r>
              <a:rPr lang="en-US" altLang="ko-KR" dirty="0"/>
              <a:t>part </a:t>
            </a:r>
            <a:r>
              <a:rPr lang="ko-KR" altLang="en-US" dirty="0"/>
              <a:t>및 </a:t>
            </a:r>
            <a:r>
              <a:rPr lang="en-US" altLang="ko-KR" dirty="0"/>
              <a:t>mesh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19C90-5B6C-45D2-9F0D-8BBDD2311885}"/>
              </a:ext>
            </a:extLst>
          </p:cNvPr>
          <p:cNvSpPr txBox="1"/>
          <p:nvPr/>
        </p:nvSpPr>
        <p:spPr>
          <a:xfrm>
            <a:off x="8437630" y="5843272"/>
            <a:ext cx="1927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LLZO part </a:t>
            </a:r>
            <a:r>
              <a:rPr lang="ko-KR" altLang="en-US" dirty="0"/>
              <a:t>및 </a:t>
            </a:r>
            <a:r>
              <a:rPr lang="en-US" altLang="ko-KR" dirty="0"/>
              <a:t>mesh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148439" cy="1143000"/>
          </a:xfrm>
        </p:spPr>
        <p:txBody>
          <a:bodyPr>
            <a:normAutofit fontScale="90000"/>
          </a:bodyPr>
          <a:lstStyle/>
          <a:p>
            <a:pPr>
              <a:defRPr>
                <a:latin typeface="Malgun Gothic"/>
              </a:defRPr>
            </a:pP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압력</a:t>
            </a:r>
            <a:r>
              <a:rPr dirty="0"/>
              <a:t> p = 1 MPa</a:t>
            </a:r>
          </a:p>
        </p:txBody>
      </p:sp>
      <p:pic>
        <p:nvPicPr>
          <p:cNvPr id="3" name="Picture 2" descr="p1_t10800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1297"/>
            <a:ext cx="6726409" cy="31915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5303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/>
              <a:t>Mises </a:t>
            </a:r>
            <a:r>
              <a:rPr dirty="0" err="1"/>
              <a:t>응력</a:t>
            </a:r>
            <a:r>
              <a:rPr dirty="0"/>
              <a:t> (t=10800s,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증착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dirty="0" err="1"/>
              <a:t>부피</a:t>
            </a:r>
            <a:r>
              <a:rPr dirty="0"/>
              <a:t> </a:t>
            </a:r>
            <a:r>
              <a:rPr dirty="0" err="1"/>
              <a:t>팽창이</a:t>
            </a:r>
            <a:r>
              <a:rPr dirty="0"/>
              <a:t> </a:t>
            </a:r>
            <a:r>
              <a:rPr dirty="0" err="1"/>
              <a:t>최대로</a:t>
            </a:r>
            <a:r>
              <a:rPr dirty="0"/>
              <a:t> </a:t>
            </a:r>
            <a:r>
              <a:rPr dirty="0" err="1"/>
              <a:t>일어났을</a:t>
            </a:r>
            <a:r>
              <a:rPr dirty="0"/>
              <a:t> 때</a:t>
            </a:r>
            <a:r>
              <a:rPr lang="en-US" altLang="ko-KR" dirty="0"/>
              <a:t>(2.5 </a:t>
            </a:r>
            <a:r>
              <a:rPr lang="ko-KR" altLang="en-US" dirty="0"/>
              <a:t>사이클 지점</a:t>
            </a:r>
            <a:r>
              <a:rPr lang="en-US" altLang="ko-KR" dirty="0"/>
              <a:t>)</a:t>
            </a:r>
            <a:r>
              <a:rPr dirty="0"/>
              <a:t>의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분포</a:t>
            </a:r>
            <a:br>
              <a:rPr dirty="0"/>
            </a:br>
            <a:r>
              <a:rPr dirty="0"/>
              <a:t>- Cold spot 및 </a:t>
            </a:r>
            <a:r>
              <a:rPr dirty="0" err="1"/>
              <a:t>불균일</a:t>
            </a:r>
            <a:r>
              <a:rPr lang="ko-KR" altLang="en-US" dirty="0"/>
              <a:t>한</a:t>
            </a:r>
            <a:r>
              <a:rPr dirty="0"/>
              <a:t> </a:t>
            </a:r>
            <a:r>
              <a:rPr dirty="0" err="1"/>
              <a:t>표면</a:t>
            </a:r>
            <a:r>
              <a:rPr dirty="0"/>
              <a:t> </a:t>
            </a:r>
            <a:r>
              <a:rPr dirty="0" err="1"/>
              <a:t>주변으로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집중</a:t>
            </a:r>
            <a:endParaRPr dirty="0"/>
          </a:p>
        </p:txBody>
      </p:sp>
      <p:pic>
        <p:nvPicPr>
          <p:cNvPr id="5" name="Picture 4" descr="p1_t12960_SDV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894" y="1371600"/>
            <a:ext cx="6988356" cy="3315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303520"/>
            <a:ext cx="5791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 err="1"/>
              <a:t>등가</a:t>
            </a:r>
            <a:r>
              <a:rPr dirty="0"/>
              <a:t> </a:t>
            </a:r>
            <a:r>
              <a:rPr dirty="0" err="1"/>
              <a:t>소성</a:t>
            </a:r>
            <a:r>
              <a:rPr dirty="0"/>
              <a:t> </a:t>
            </a:r>
            <a:r>
              <a:rPr dirty="0" err="1"/>
              <a:t>변형률</a:t>
            </a:r>
            <a:r>
              <a:rPr dirty="0"/>
              <a:t> / SDV14 (t=12960s,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용해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lang="en-US" dirty="0"/>
              <a:t>Plating/Stripping 3 </a:t>
            </a:r>
            <a:r>
              <a:rPr lang="ko-KR" altLang="en-US" dirty="0"/>
              <a:t>사이클</a:t>
            </a:r>
            <a:r>
              <a:rPr lang="en-US"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누적된</a:t>
            </a:r>
            <a:r>
              <a:rPr dirty="0"/>
              <a:t> </a:t>
            </a:r>
            <a:r>
              <a:rPr lang="ko-KR" altLang="en-US" dirty="0"/>
              <a:t>소성</a:t>
            </a:r>
            <a:r>
              <a:rPr dirty="0"/>
              <a:t> </a:t>
            </a:r>
            <a:r>
              <a:rPr dirty="0" err="1"/>
              <a:t>변형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4113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157317" cy="1143000"/>
          </a:xfrm>
        </p:spPr>
        <p:txBody>
          <a:bodyPr>
            <a:normAutofit fontScale="90000"/>
          </a:bodyPr>
          <a:lstStyle/>
          <a:p>
            <a:pPr>
              <a:defRPr>
                <a:latin typeface="Malgun Gothic"/>
              </a:defRPr>
            </a:pP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압력</a:t>
            </a:r>
            <a:r>
              <a:rPr dirty="0"/>
              <a:t> p = 3 MPa</a:t>
            </a:r>
          </a:p>
        </p:txBody>
      </p:sp>
      <p:pic>
        <p:nvPicPr>
          <p:cNvPr id="3" name="Picture 2" descr="p3_t10800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23" y="1513643"/>
            <a:ext cx="6801251" cy="3227033"/>
          </a:xfrm>
          <a:prstGeom prst="rect">
            <a:avLst/>
          </a:prstGeom>
        </p:spPr>
      </p:pic>
      <p:pic>
        <p:nvPicPr>
          <p:cNvPr id="5" name="Picture 4" descr="p3_t12960_SDV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71600"/>
            <a:ext cx="6801251" cy="3227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BAD3A0-B925-459F-893D-66B40949B1E3}"/>
              </a:ext>
            </a:extLst>
          </p:cNvPr>
          <p:cNvSpPr txBox="1"/>
          <p:nvPr/>
        </p:nvSpPr>
        <p:spPr>
          <a:xfrm>
            <a:off x="457200" y="5303520"/>
            <a:ext cx="5303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/>
              <a:t>Mises </a:t>
            </a:r>
            <a:r>
              <a:rPr dirty="0" err="1"/>
              <a:t>응력</a:t>
            </a:r>
            <a:r>
              <a:rPr dirty="0"/>
              <a:t> (t=10800s,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증착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dirty="0" err="1"/>
              <a:t>부피</a:t>
            </a:r>
            <a:r>
              <a:rPr dirty="0"/>
              <a:t> </a:t>
            </a:r>
            <a:r>
              <a:rPr dirty="0" err="1"/>
              <a:t>팽창이</a:t>
            </a:r>
            <a:r>
              <a:rPr dirty="0"/>
              <a:t> </a:t>
            </a:r>
            <a:r>
              <a:rPr dirty="0" err="1"/>
              <a:t>최대로</a:t>
            </a:r>
            <a:r>
              <a:rPr dirty="0"/>
              <a:t> </a:t>
            </a:r>
            <a:r>
              <a:rPr dirty="0" err="1"/>
              <a:t>일어났을</a:t>
            </a:r>
            <a:r>
              <a:rPr dirty="0"/>
              <a:t> </a:t>
            </a:r>
            <a:r>
              <a:rPr dirty="0" err="1"/>
              <a:t>때의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분포</a:t>
            </a:r>
            <a:br>
              <a:rPr dirty="0"/>
            </a:br>
            <a:r>
              <a:rPr dirty="0"/>
              <a:t>- Cold spot 및 </a:t>
            </a:r>
            <a:r>
              <a:rPr dirty="0" err="1"/>
              <a:t>불균일</a:t>
            </a:r>
            <a:r>
              <a:rPr lang="ko-KR" altLang="en-US" dirty="0"/>
              <a:t>한</a:t>
            </a:r>
            <a:r>
              <a:rPr dirty="0"/>
              <a:t> </a:t>
            </a:r>
            <a:r>
              <a:rPr dirty="0" err="1"/>
              <a:t>표면</a:t>
            </a:r>
            <a:r>
              <a:rPr dirty="0"/>
              <a:t> </a:t>
            </a:r>
            <a:r>
              <a:rPr dirty="0" err="1"/>
              <a:t>주변으로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집중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DCA60-656A-42B8-AE6C-89F589A8433D}"/>
              </a:ext>
            </a:extLst>
          </p:cNvPr>
          <p:cNvSpPr txBox="1"/>
          <p:nvPr/>
        </p:nvSpPr>
        <p:spPr>
          <a:xfrm>
            <a:off x="6400800" y="5303520"/>
            <a:ext cx="5791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 err="1"/>
              <a:t>등가</a:t>
            </a:r>
            <a:r>
              <a:rPr dirty="0"/>
              <a:t> </a:t>
            </a:r>
            <a:r>
              <a:rPr dirty="0" err="1"/>
              <a:t>소성</a:t>
            </a:r>
            <a:r>
              <a:rPr dirty="0"/>
              <a:t> </a:t>
            </a:r>
            <a:r>
              <a:rPr dirty="0" err="1"/>
              <a:t>변형률</a:t>
            </a:r>
            <a:r>
              <a:rPr dirty="0"/>
              <a:t> / SDV14 (t=12960s,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용해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lang="en-US" dirty="0"/>
              <a:t>Plating/Stripping 3 </a:t>
            </a:r>
            <a:r>
              <a:rPr lang="ko-KR" altLang="en-US" dirty="0"/>
              <a:t>사이클</a:t>
            </a:r>
            <a:r>
              <a:rPr lang="en-US"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누적된</a:t>
            </a:r>
            <a:r>
              <a:rPr dirty="0"/>
              <a:t> </a:t>
            </a:r>
            <a:r>
              <a:rPr lang="ko-KR" altLang="en-US" dirty="0"/>
              <a:t>소성</a:t>
            </a:r>
            <a:r>
              <a:rPr dirty="0"/>
              <a:t> </a:t>
            </a:r>
            <a:r>
              <a:rPr dirty="0" err="1"/>
              <a:t>변형</a:t>
            </a:r>
            <a:endParaRPr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183950" cy="1143000"/>
          </a:xfrm>
        </p:spPr>
        <p:txBody>
          <a:bodyPr>
            <a:normAutofit fontScale="90000"/>
          </a:bodyPr>
          <a:lstStyle/>
          <a:p>
            <a:pPr>
              <a:defRPr>
                <a:latin typeface="Malgun Gothic"/>
              </a:defRPr>
            </a:pP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압력</a:t>
            </a:r>
            <a:r>
              <a:rPr dirty="0"/>
              <a:t> p = 5 MPa</a:t>
            </a:r>
          </a:p>
        </p:txBody>
      </p:sp>
      <p:pic>
        <p:nvPicPr>
          <p:cNvPr id="3" name="Picture 2" descr="p5_t10800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0" y="1371600"/>
            <a:ext cx="7381276" cy="3502241"/>
          </a:xfrm>
          <a:prstGeom prst="rect">
            <a:avLst/>
          </a:prstGeom>
        </p:spPr>
      </p:pic>
      <p:pic>
        <p:nvPicPr>
          <p:cNvPr id="5" name="Picture 4" descr="p5_t12960_SDV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316" y="1371600"/>
            <a:ext cx="7830327" cy="37153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E5DD3-C348-4370-B50E-AFB815FD35FE}"/>
              </a:ext>
            </a:extLst>
          </p:cNvPr>
          <p:cNvSpPr txBox="1"/>
          <p:nvPr/>
        </p:nvSpPr>
        <p:spPr>
          <a:xfrm>
            <a:off x="457200" y="5303520"/>
            <a:ext cx="5303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/>
              <a:t>Mises </a:t>
            </a:r>
            <a:r>
              <a:rPr dirty="0" err="1"/>
              <a:t>응력</a:t>
            </a:r>
            <a:r>
              <a:rPr dirty="0"/>
              <a:t> (t=10800s,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증착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dirty="0" err="1"/>
              <a:t>부피</a:t>
            </a:r>
            <a:r>
              <a:rPr dirty="0"/>
              <a:t> </a:t>
            </a:r>
            <a:r>
              <a:rPr dirty="0" err="1"/>
              <a:t>팽창이</a:t>
            </a:r>
            <a:r>
              <a:rPr dirty="0"/>
              <a:t> </a:t>
            </a:r>
            <a:r>
              <a:rPr dirty="0" err="1"/>
              <a:t>최대로</a:t>
            </a:r>
            <a:r>
              <a:rPr dirty="0"/>
              <a:t> </a:t>
            </a:r>
            <a:r>
              <a:rPr dirty="0" err="1"/>
              <a:t>일어났을</a:t>
            </a:r>
            <a:r>
              <a:rPr dirty="0"/>
              <a:t> </a:t>
            </a:r>
            <a:r>
              <a:rPr dirty="0" err="1"/>
              <a:t>때의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분포</a:t>
            </a:r>
            <a:br>
              <a:rPr dirty="0"/>
            </a:br>
            <a:r>
              <a:rPr dirty="0"/>
              <a:t>- Cold spot 및 </a:t>
            </a:r>
            <a:r>
              <a:rPr dirty="0" err="1"/>
              <a:t>불균일</a:t>
            </a:r>
            <a:r>
              <a:rPr lang="ko-KR" altLang="en-US" dirty="0"/>
              <a:t>한</a:t>
            </a:r>
            <a:r>
              <a:rPr dirty="0"/>
              <a:t> </a:t>
            </a:r>
            <a:r>
              <a:rPr dirty="0" err="1"/>
              <a:t>표면</a:t>
            </a:r>
            <a:r>
              <a:rPr dirty="0"/>
              <a:t> </a:t>
            </a:r>
            <a:r>
              <a:rPr dirty="0" err="1"/>
              <a:t>주변으로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집중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5BE59-53E0-4827-8B55-B25C2551646D}"/>
              </a:ext>
            </a:extLst>
          </p:cNvPr>
          <p:cNvSpPr txBox="1"/>
          <p:nvPr/>
        </p:nvSpPr>
        <p:spPr>
          <a:xfrm>
            <a:off x="6400800" y="5303520"/>
            <a:ext cx="5791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 err="1"/>
              <a:t>등가</a:t>
            </a:r>
            <a:r>
              <a:rPr dirty="0"/>
              <a:t> </a:t>
            </a:r>
            <a:r>
              <a:rPr dirty="0" err="1"/>
              <a:t>소성</a:t>
            </a:r>
            <a:r>
              <a:rPr dirty="0"/>
              <a:t> </a:t>
            </a:r>
            <a:r>
              <a:rPr dirty="0" err="1"/>
              <a:t>변형률</a:t>
            </a:r>
            <a:r>
              <a:rPr dirty="0"/>
              <a:t> / SDV14 (t=12960s,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용해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lang="en-US" dirty="0"/>
              <a:t>Plating/Stripping 3 </a:t>
            </a:r>
            <a:r>
              <a:rPr lang="ko-KR" altLang="en-US" dirty="0"/>
              <a:t>사이클</a:t>
            </a:r>
            <a:r>
              <a:rPr lang="en-US"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누적된</a:t>
            </a:r>
            <a:r>
              <a:rPr dirty="0"/>
              <a:t> </a:t>
            </a:r>
            <a:r>
              <a:rPr lang="ko-KR" altLang="en-US" dirty="0"/>
              <a:t>소성</a:t>
            </a:r>
            <a:r>
              <a:rPr dirty="0"/>
              <a:t> </a:t>
            </a:r>
            <a:r>
              <a:rPr dirty="0" err="1"/>
              <a:t>변형</a:t>
            </a:r>
            <a:endParaRPr lang="en-US" altLang="ko-K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583445" cy="1143000"/>
          </a:xfrm>
        </p:spPr>
        <p:txBody>
          <a:bodyPr>
            <a:normAutofit fontScale="90000"/>
          </a:bodyPr>
          <a:lstStyle/>
          <a:p>
            <a:pPr>
              <a:defRPr>
                <a:latin typeface="Malgun Gothic"/>
              </a:defRPr>
            </a:pP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압력</a:t>
            </a:r>
            <a:r>
              <a:rPr dirty="0"/>
              <a:t> p = 10 MPa</a:t>
            </a:r>
          </a:p>
        </p:txBody>
      </p:sp>
      <p:pic>
        <p:nvPicPr>
          <p:cNvPr id="3" name="Picture 2" descr="p10_t10800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6" y="1576788"/>
            <a:ext cx="6760347" cy="3207625"/>
          </a:xfrm>
          <a:prstGeom prst="rect">
            <a:avLst/>
          </a:prstGeom>
        </p:spPr>
      </p:pic>
      <p:pic>
        <p:nvPicPr>
          <p:cNvPr id="5" name="Picture 4" descr="p10_t12960_SDV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226" y="1344966"/>
            <a:ext cx="6988358" cy="3315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D6F313-8486-4D62-8709-1D34612112AE}"/>
              </a:ext>
            </a:extLst>
          </p:cNvPr>
          <p:cNvSpPr txBox="1"/>
          <p:nvPr/>
        </p:nvSpPr>
        <p:spPr>
          <a:xfrm>
            <a:off x="457200" y="5303520"/>
            <a:ext cx="5303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/>
              <a:t>Mises </a:t>
            </a:r>
            <a:r>
              <a:rPr dirty="0" err="1"/>
              <a:t>응력</a:t>
            </a:r>
            <a:r>
              <a:rPr dirty="0"/>
              <a:t> (t=10800s,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증착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dirty="0" err="1"/>
              <a:t>부피</a:t>
            </a:r>
            <a:r>
              <a:rPr dirty="0"/>
              <a:t> </a:t>
            </a:r>
            <a:r>
              <a:rPr dirty="0" err="1"/>
              <a:t>팽창이</a:t>
            </a:r>
            <a:r>
              <a:rPr dirty="0"/>
              <a:t> </a:t>
            </a:r>
            <a:r>
              <a:rPr dirty="0" err="1"/>
              <a:t>최대로</a:t>
            </a:r>
            <a:r>
              <a:rPr dirty="0"/>
              <a:t> </a:t>
            </a:r>
            <a:r>
              <a:rPr dirty="0" err="1"/>
              <a:t>일어났을</a:t>
            </a:r>
            <a:r>
              <a:rPr dirty="0"/>
              <a:t> </a:t>
            </a:r>
            <a:r>
              <a:rPr dirty="0" err="1"/>
              <a:t>때의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분포</a:t>
            </a:r>
            <a:br>
              <a:rPr dirty="0"/>
            </a:br>
            <a:r>
              <a:rPr dirty="0"/>
              <a:t>- Cold spot 및 </a:t>
            </a:r>
            <a:r>
              <a:rPr dirty="0" err="1"/>
              <a:t>불균일</a:t>
            </a:r>
            <a:r>
              <a:rPr lang="ko-KR" altLang="en-US" dirty="0"/>
              <a:t>한</a:t>
            </a:r>
            <a:r>
              <a:rPr dirty="0"/>
              <a:t> </a:t>
            </a:r>
            <a:r>
              <a:rPr dirty="0" err="1"/>
              <a:t>표면</a:t>
            </a:r>
            <a:r>
              <a:rPr dirty="0"/>
              <a:t> </a:t>
            </a:r>
            <a:r>
              <a:rPr dirty="0" err="1"/>
              <a:t>주변으로</a:t>
            </a:r>
            <a:r>
              <a:rPr dirty="0"/>
              <a:t> </a:t>
            </a:r>
            <a:r>
              <a:rPr dirty="0" err="1"/>
              <a:t>응력</a:t>
            </a:r>
            <a:r>
              <a:rPr lang="en-US" altLang="ko-KR" dirty="0"/>
              <a:t> </a:t>
            </a:r>
            <a:r>
              <a:rPr lang="ko-KR" altLang="en-US" dirty="0"/>
              <a:t>집중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38DBB-767C-42CA-8510-7D69AB4B5402}"/>
              </a:ext>
            </a:extLst>
          </p:cNvPr>
          <p:cNvSpPr txBox="1"/>
          <p:nvPr/>
        </p:nvSpPr>
        <p:spPr>
          <a:xfrm>
            <a:off x="6400800" y="5303520"/>
            <a:ext cx="5791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latin typeface="Malgun Gothic"/>
              </a:defRPr>
            </a:pPr>
            <a:r>
              <a:rPr dirty="0" err="1"/>
              <a:t>등가</a:t>
            </a:r>
            <a:r>
              <a:rPr dirty="0"/>
              <a:t> </a:t>
            </a:r>
            <a:r>
              <a:rPr dirty="0" err="1"/>
              <a:t>소성</a:t>
            </a:r>
            <a:r>
              <a:rPr dirty="0"/>
              <a:t> </a:t>
            </a:r>
            <a:r>
              <a:rPr dirty="0" err="1"/>
              <a:t>변형률</a:t>
            </a:r>
            <a:r>
              <a:rPr dirty="0"/>
              <a:t> / SDV14 (t=12960s,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용해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  <a:p>
            <a:pPr>
              <a:defRPr sz="1400">
                <a:latin typeface="Malgun Gothic"/>
              </a:defRPr>
            </a:pPr>
            <a:r>
              <a:rPr dirty="0"/>
              <a:t>- </a:t>
            </a:r>
            <a:r>
              <a:rPr lang="en-US" dirty="0"/>
              <a:t>Plating/Stripping 3 </a:t>
            </a:r>
            <a:r>
              <a:rPr lang="ko-KR" altLang="en-US" dirty="0"/>
              <a:t>사이클</a:t>
            </a:r>
            <a:r>
              <a:rPr lang="en-US"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누적된</a:t>
            </a:r>
            <a:r>
              <a:rPr dirty="0"/>
              <a:t> </a:t>
            </a:r>
            <a:r>
              <a:rPr lang="ko-KR" altLang="en-US" dirty="0"/>
              <a:t>소성</a:t>
            </a:r>
            <a:r>
              <a:rPr dirty="0"/>
              <a:t> </a:t>
            </a:r>
            <a:r>
              <a:rPr dirty="0" err="1"/>
              <a:t>변형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1143000"/>
          </a:xfrm>
        </p:spPr>
        <p:txBody>
          <a:bodyPr>
            <a:normAutofit fontScale="90000"/>
          </a:bodyPr>
          <a:lstStyle/>
          <a:p>
            <a:pPr>
              <a:defRPr>
                <a:latin typeface="Malgun Gothic"/>
              </a:defRPr>
            </a:pPr>
            <a:r>
              <a:rPr dirty="0" err="1"/>
              <a:t>접촉면</a:t>
            </a:r>
            <a:r>
              <a:rPr dirty="0"/>
              <a:t> 및 </a:t>
            </a:r>
            <a:r>
              <a:rPr dirty="0" err="1"/>
              <a:t>계면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(t=10800s,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증착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095130"/>
            <a:ext cx="492769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Malgun Gothic"/>
              </a:defRPr>
            </a:pPr>
            <a:r>
              <a:rPr dirty="0" err="1"/>
              <a:t>압력별</a:t>
            </a:r>
            <a:r>
              <a:rPr dirty="0"/>
              <a:t> </a:t>
            </a:r>
            <a:r>
              <a:rPr dirty="0" err="1"/>
              <a:t>계면</a:t>
            </a:r>
            <a:r>
              <a:rPr dirty="0"/>
              <a:t> </a:t>
            </a:r>
            <a:r>
              <a:rPr dirty="0" err="1"/>
              <a:t>특성</a:t>
            </a:r>
            <a:r>
              <a:rPr dirty="0"/>
              <a:t> </a:t>
            </a:r>
            <a:r>
              <a:rPr dirty="0" err="1"/>
              <a:t>비교</a:t>
            </a:r>
            <a:endParaRPr lang="en-US" altLang="ko-KR" dirty="0"/>
          </a:p>
          <a:p>
            <a:pPr>
              <a:defRPr sz="1800" b="1">
                <a:latin typeface="Malgun Gothic"/>
              </a:defRPr>
            </a:pPr>
            <a:endParaRPr lang="en-US" altLang="ko-KR" dirty="0"/>
          </a:p>
          <a:p>
            <a:pPr>
              <a:defRPr sz="1800" b="1">
                <a:latin typeface="Malgun Gothic"/>
              </a:defRPr>
            </a:pPr>
            <a:r>
              <a:rPr lang="ko-KR" altLang="en-US" sz="1600" dirty="0">
                <a:latin typeface="+mn-ea"/>
              </a:rPr>
              <a:t>계면 부분인 </a:t>
            </a:r>
            <a:r>
              <a:rPr lang="en-US" altLang="ko-KR" sz="1600" dirty="0">
                <a:latin typeface="+mn-ea"/>
              </a:rPr>
              <a:t>undeformed </a:t>
            </a:r>
            <a:r>
              <a:rPr lang="ko-KR" altLang="en-US" sz="1600" dirty="0">
                <a:latin typeface="+mn-ea"/>
              </a:rPr>
              <a:t>기준 </a:t>
            </a:r>
            <a:r>
              <a:rPr lang="en-US" altLang="ko-KR" sz="1600" dirty="0">
                <a:latin typeface="+mn-ea"/>
              </a:rPr>
              <a:t>y=5um</a:t>
            </a:r>
            <a:r>
              <a:rPr lang="ko-KR" altLang="en-US" sz="1600" dirty="0">
                <a:latin typeface="+mn-ea"/>
              </a:rPr>
              <a:t>에서의 데이터 추출</a:t>
            </a:r>
            <a:endParaRPr lang="en-US" altLang="ko-KR" sz="1600" dirty="0">
              <a:latin typeface="+mn-ea"/>
            </a:endParaRPr>
          </a:p>
          <a:p>
            <a:pPr>
              <a:defRPr sz="1800" b="1">
                <a:latin typeface="Malgun Gothic"/>
              </a:defRPr>
            </a:pPr>
            <a:endParaRPr dirty="0"/>
          </a:p>
          <a:p>
            <a:pPr>
              <a:defRPr sz="1600">
                <a:latin typeface="Malgun Gothic"/>
              </a:defRPr>
            </a:pPr>
            <a:r>
              <a:rPr dirty="0"/>
              <a:t>1. </a:t>
            </a:r>
            <a:r>
              <a:rPr lang="ko-KR" altLang="en-US" dirty="0"/>
              <a:t>접촉 </a:t>
            </a:r>
            <a:r>
              <a:rPr lang="ko-KR" altLang="en-US" dirty="0" err="1"/>
              <a:t>균일성</a:t>
            </a:r>
            <a:r>
              <a:rPr dirty="0"/>
              <a:t>: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압력이</a:t>
            </a:r>
            <a:r>
              <a:rPr dirty="0"/>
              <a:t> 1 </a:t>
            </a:r>
            <a:r>
              <a:rPr dirty="0" err="1"/>
              <a:t>MPa에서</a:t>
            </a:r>
            <a:r>
              <a:rPr dirty="0"/>
              <a:t> 10 </a:t>
            </a:r>
            <a:r>
              <a:rPr dirty="0" err="1"/>
              <a:t>MPa로</a:t>
            </a:r>
            <a:r>
              <a:rPr dirty="0"/>
              <a:t> </a:t>
            </a:r>
            <a:r>
              <a:rPr dirty="0" err="1"/>
              <a:t>증가함에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계면의</a:t>
            </a:r>
            <a:r>
              <a:rPr dirty="0"/>
              <a:t> </a:t>
            </a:r>
            <a:r>
              <a:rPr dirty="0" err="1"/>
              <a:t>접촉</a:t>
            </a:r>
            <a:r>
              <a:rPr dirty="0"/>
              <a:t> </a:t>
            </a:r>
            <a:r>
              <a:rPr dirty="0" err="1"/>
              <a:t>형태가</a:t>
            </a:r>
            <a:r>
              <a:rPr lang="en-US" altLang="ko-KR" dirty="0"/>
              <a:t> </a:t>
            </a:r>
            <a:r>
              <a:rPr lang="ko-KR" altLang="en-US" dirty="0"/>
              <a:t>더</a:t>
            </a:r>
            <a:r>
              <a:rPr dirty="0"/>
              <a:t> </a:t>
            </a:r>
            <a:r>
              <a:rPr dirty="0" err="1"/>
              <a:t>균일해</a:t>
            </a:r>
            <a:r>
              <a:rPr lang="ko-KR" altLang="en-US" dirty="0"/>
              <a:t>짐</a:t>
            </a:r>
            <a:r>
              <a:rPr dirty="0"/>
              <a:t>.</a:t>
            </a:r>
            <a:endParaRPr lang="en-US" altLang="ko-KR" dirty="0"/>
          </a:p>
          <a:p>
            <a:pPr>
              <a:defRPr sz="1600">
                <a:latin typeface="Malgun Gothic"/>
              </a:defRPr>
            </a:pPr>
            <a:endParaRPr dirty="0"/>
          </a:p>
          <a:p>
            <a:pPr>
              <a:defRPr sz="1600">
                <a:latin typeface="Malgun Gothic"/>
              </a:defRPr>
            </a:pPr>
            <a:r>
              <a:rPr dirty="0"/>
              <a:t>2.</a:t>
            </a:r>
            <a:r>
              <a:rPr lang="en-US" altLang="ko-KR" dirty="0"/>
              <a:t> </a:t>
            </a:r>
            <a:r>
              <a:rPr lang="ko-KR" altLang="en-US" dirty="0"/>
              <a:t>박리</a:t>
            </a:r>
            <a:r>
              <a:rPr dirty="0"/>
              <a:t> </a:t>
            </a:r>
            <a:r>
              <a:rPr dirty="0" err="1"/>
              <a:t>억제</a:t>
            </a:r>
            <a:r>
              <a:rPr dirty="0"/>
              <a:t>: </a:t>
            </a:r>
            <a:r>
              <a:rPr lang="en-US" altLang="ko-KR" dirty="0"/>
              <a:t>10MPa </a:t>
            </a:r>
            <a:r>
              <a:rPr lang="ko-KR" altLang="en-US" dirty="0"/>
              <a:t>이상의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압력은</a:t>
            </a:r>
            <a:r>
              <a:rPr dirty="0"/>
              <a:t> </a:t>
            </a:r>
            <a:r>
              <a:rPr dirty="0" err="1"/>
              <a:t>리튬을</a:t>
            </a:r>
            <a:r>
              <a:rPr dirty="0"/>
              <a:t> </a:t>
            </a:r>
            <a:r>
              <a:rPr dirty="0" err="1"/>
              <a:t>소성</a:t>
            </a:r>
            <a:r>
              <a:rPr dirty="0"/>
              <a:t> </a:t>
            </a:r>
            <a:r>
              <a:rPr dirty="0" err="1"/>
              <a:t>변형시켜</a:t>
            </a:r>
            <a:r>
              <a:rPr dirty="0"/>
              <a:t> </a:t>
            </a:r>
            <a:r>
              <a:rPr dirty="0" err="1"/>
              <a:t>국부적인</a:t>
            </a:r>
            <a:r>
              <a:rPr dirty="0"/>
              <a:t> </a:t>
            </a:r>
            <a:r>
              <a:rPr lang="ko-KR" altLang="en-US" dirty="0"/>
              <a:t>박리를</a:t>
            </a:r>
            <a:r>
              <a:rPr dirty="0"/>
              <a:t> </a:t>
            </a:r>
            <a:r>
              <a:rPr dirty="0" err="1"/>
              <a:t>억제하는</a:t>
            </a:r>
            <a:r>
              <a:rPr dirty="0"/>
              <a:t> 데 </a:t>
            </a:r>
            <a:r>
              <a:rPr dirty="0" err="1"/>
              <a:t>도움을</a:t>
            </a:r>
            <a:r>
              <a:rPr dirty="0"/>
              <a:t> </a:t>
            </a:r>
            <a:r>
              <a:rPr lang="ko-KR" altLang="en-US" dirty="0"/>
              <a:t>줌</a:t>
            </a:r>
            <a:r>
              <a:rPr dirty="0"/>
              <a:t>.</a:t>
            </a:r>
            <a:r>
              <a:rPr lang="en-US" altLang="ko-KR" dirty="0"/>
              <a:t> (U2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/>
              <a:t>보다 큰 </a:t>
            </a:r>
            <a:r>
              <a:rPr lang="ko-KR" altLang="en-US" dirty="0"/>
              <a:t>영역이 줄어듦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AC15A6-F3C0-4634-B144-F7064FD14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13" y="1314642"/>
            <a:ext cx="6435378" cy="5148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416</Words>
  <Application>Microsoft Office PowerPoint</Application>
  <PresentationFormat>와이드스크린</PresentationFormat>
  <Paragraphs>38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Malgun Gothic</vt:lpstr>
      <vt:lpstr>Malgun Gothic</vt:lpstr>
      <vt:lpstr>Arial</vt:lpstr>
      <vt:lpstr>Calibri</vt:lpstr>
      <vt:lpstr>Office Theme</vt:lpstr>
      <vt:lpstr>리튬 전착(Electrodeposition) 시뮬레이션 결과</vt:lpstr>
      <vt:lpstr>피드백 반영 사항</vt:lpstr>
      <vt:lpstr>시뮬레이션 결과: 외부 압력 p = 1 MPa</vt:lpstr>
      <vt:lpstr>시뮬레이션 결과: 외부 압력 p = 3 MPa</vt:lpstr>
      <vt:lpstr>시뮬레이션 결과: 외부 압력 p = 5 MPa</vt:lpstr>
      <vt:lpstr>시뮬레이션 결과: 외부 압력 p = 10 MPa</vt:lpstr>
      <vt:lpstr>접촉면 및 계면 분석 (t=10800s, 최대 증착 시점)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리튬 전착(Electrodeposition) 시뮬레이션 결과</dc:title>
  <dc:subject/>
  <dc:creator/>
  <cp:keywords/>
  <dc:description>generated using python-pptx</dc:description>
  <cp:lastModifiedBy>정진욱</cp:lastModifiedBy>
  <cp:revision>7</cp:revision>
  <dcterms:created xsi:type="dcterms:W3CDTF">2013-01-27T09:14:16Z</dcterms:created>
  <dcterms:modified xsi:type="dcterms:W3CDTF">2026-05-26T11:03:02Z</dcterms:modified>
  <cp:category/>
</cp:coreProperties>
</file>